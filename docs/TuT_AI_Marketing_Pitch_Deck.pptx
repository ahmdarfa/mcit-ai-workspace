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474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MINISTRY OF COMMUNICATIONS AND INFORMATION TECHNOLOGY (MCIT)</a:t>
            </a:r>
          </a:p>
          <a:p>
            <a:pPr>
              <a:spcAft>
                <a:spcPts val="1000"/>
              </a:spcAft>
              <a:defRPr sz="4200" b="1">
                <a:solidFill>
                  <a:srgbClr val="F8FAFC"/>
                </a:solidFill>
                <a:latin typeface="Arial"/>
              </a:defRPr>
            </a:pPr>
            <a:r>
              <a:t>TuT AI: Sovereign Local AI Platform</a:t>
            </a:r>
          </a:p>
          <a:p>
            <a:pPr>
              <a:spcAft>
                <a:spcPts val="2800"/>
              </a:spcAft>
              <a:defRPr sz="1800">
                <a:solidFill>
                  <a:srgbClr val="38BDF8"/>
                </a:solidFill>
                <a:latin typeface="Arial"/>
              </a:defRPr>
            </a:pPr>
            <a:r>
              <a:t>Strategic Pitch Deck — 100% Offline National Intelligence, Deep Summarization, Autonomous Presentations &amp; Vector Infographics</a:t>
            </a:r>
          </a:p>
          <a:p>
            <a:pPr>
              <a:defRPr sz="1300" b="1">
                <a:solidFill>
                  <a:srgbClr val="F5D673"/>
                </a:solidFill>
                <a:latin typeface="Arial"/>
              </a:defRPr>
            </a:pPr>
            <a:r>
              <a:t>Principal Architect &amp; Project Lead: Ahmed Gamal Sophi Arfa | Under the Supervision of MCIT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CHALLENGE &amp;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Strategic Imperative: Why Sovereign Local AI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VULNERABILITY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Severe Data Security Risks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Relying on foreign commercial clouds (OpenAI, Claude) means confidential state data leaves Egypt.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Strict government data laws forbid storing ministerial decrees and citizen archives abroad.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Risk of third-party model retraining on sensitive Egyptian intellectual property.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Cloud services remain vulnerable to international outages, embargoes, and rate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FRICTION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The Document Bottleneck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Ministries process thousands of 100+ page technical specs, legal decrees, and briefs daily.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Human summarization takes hours or days, causing executive bottlenecks in decision-making.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Building slide presentations and executive infographics requires multiple manual designers.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 recurring SaaS subscription fees for disparate design and AI editing platforms.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The TuT AI Breakthrough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100% On-Premise, Air-Gapped execution on local Egyptian infrastructure.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transmission — works completely offline without internet connectivity.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Unifies deep research, document drafting, slides, and spreadsheet audit in one single sign-on.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Maximizes local hardware via dedicated NVIDIA GPU acceleration.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PLATFORM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TuT AI Core Engine: Three Deliverable Powerhouses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RESEARCH ENGINE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📑 Deep Summarization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Ingests 100+ page PDFs, Word docs, decrees, and raw spreadsheets into local notebooks.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Hierarchical multi-tier synthesis: Executive Brief, Chapter Breakdown, and Key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Grounded passage citations: Every bullet point is bound to exact numbered passage references.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Guaranteed Zero-Hallucination via local vector and full-text hybrid RAG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DECKCRAFT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📊 Autonomous Presentations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Prompts in natural language directly generate complete 12+ slide PowerPoint decks (.pptx).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DeckCraft local engine with strict MCIT branding, Nohemi typography, and royal gold accents.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5-pass automated layout audit loop fixes text overflow, card alignment, and visual balance.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download in chat &amp; instant editing via integrated ONLYOFFICE Document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VECTORCRAFT STUDIO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🎨 Vector Infographics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Translates complex metrics, policy timelines, and architectures into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VectorCraft engine integrates Open Doodles, structured flowchart arrows, and metric badges.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High-resolution exports in PNG, scalable SVG, and print-ready vector PDF.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Instantly embeds into official ministerial publications and social media briefs.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1: Intelligent Deep Summarization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Multi-Source Knowledge Digestion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Omni-Channel Ingestion: Scanned and text PDFs, Word (.docx), Excel spreadsheets, audio transcripts, and HTML portals.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Chunking &amp; Vectorization: Embeddings generated on-premise using nomic-embed-text via local Ollama bridge.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SurrealDB Account Isolation: Each ministry department and user operates in a segregated, sandboxed database.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Lightning Synthesis: Synthesizes complex multi-volume reports into an executive brief in under 20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Grounded Trust &amp; Zero-Hallucination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Numbered Citation System: Summary sentences display [1], [2] clickable references pointing back to the exact passage.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Context-Locked LLM: The model is strictly instructed to answer only from verified retrieved passages.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Executive Summary Tiers: Switch between a 1-page High-Level Digest, a 5-page Comprehensive Study, or a Table of Deliverables.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Arabic &amp; English Mastery: Full bilingual comprehension of complex Egyptian administrative and legal phrasing.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2: Autonomous PowerPoint Presentation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CONVERSATIONAL FLOW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End-to-End In-Chat Generation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Natural Language Prompting: Ask TuT Agent: 'Create a 12-slide presentation on Egypt Vision 2030 digital pillars'.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Local MCP Protocol: Agent invokes the local deck generator tool via Model Context Protocol (MCP) in real-time.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Production Deck Output: Produces a genuine, fully editable .pptx file (5+ MB) directly in the conversation stream.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Editing: Click to open in port :8082 without needing Microsoft Office installed on the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DESIGN RIGOR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DeckCraft Design &amp; Audit Pipeline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Approved MCIT Typography: Automatically embeds Nohemi headings, Libre Franklin body, and Inter covers.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Royal Obsidian Theme: High-contrast midnight obsidian background with royal Egyptian gold framing (#D4AF37).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Multi-Slide Typology: Hero cover slides, 3-pillar metric cards, timeline roadmaps, and closing executive summaries.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Automated Layout Audit: Self-healing loop inspects slide text lengths and refactors cards to ensure zero visual overlap.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CORE FEATURE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Pillar 3: VectorCraft Infographics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VISUAL DESIGN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Visualizing Abstract Governmental Data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From Numbers to Art: Transforms dry tables and statistical metrics into intuitive visual sketchnotes.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Process &amp; Flow Mapping: Automatically draws sequential arrows, milestone containers, and dependency diagrams.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Open Doodles &amp; Custom Vector Icons: Integrates approved human-centric vector doodles for friendly, modern appeal.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Responsive Layouts: Generates square, portrait, and landscape compositions adapted for print, web, or mobile.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PRODUCTION FORMATS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Multi-Format Sovereign Export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Vector SVG Export: Infinitely scalable vector art suitable for billboards, official banners, and web publication.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Ultra-HD PNG: High-DPI raster output for seamless embedding into Word reports, executive PDFs, and emails.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Print-Ready PDF: Vector PDF output matching international A4 / A3 print standards.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Dependency: All rendering done via local Node.js VectorCraft engine inside Docker container.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ENGINEERING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Technical Breakthroughs: 131k Context &amp; GPU Acceleration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MODEL CAPACITY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131k Context Window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PostgreSQL database tables unlocked to 131,072 context tokens.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16,384 maximum output tokens for exhaustive document generation.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memory truncation: Ingest entire decree books without losing context.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Reasoning mode: 'pro' with 8,192 dedicated thinking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VELOCITY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NVIDIA RTX 4050 GPU VRAM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Pinned local gemma4:e4b weights in dedicated 5.1 GB GPU VRAM.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Configured keep_alive: '-1' to completely eliminate cold-start unloading.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response velocity: First token streamed in milliseconds.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Optimized for smooth pair programming and multi-turn conversational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RESILIENCE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Self-Healing Docker Stack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11 isolated Docker services: Agent, Platform, ONLYOFFICE, SurrealDB, Postgres, Redis, Kokoro.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runtime self-patching in startServer.js guarantees TRPC stability on container boot.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Turnkey 1-click bootstrap scripts (.ps1 and .sh) launch the full ecosystem in under 15 seconds.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All source code versioned on GitHub: AhmdArFa/TuT-AI.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IDENTITY &amp;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Egyptian Sovereign Persona Suite &amp; Cultural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PERSONA GALLERY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 Sovereign Egyptian Historical Personas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Rooted in Heritage: Completely replaced generic western AI branding with iconic figures of Egyptian history.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King Tut: The Sovereign Prime Agent — strategic leadership, presentation compiler, and executive director.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Imhotep: Chief Architect &amp; Engineer — data structures, code analysis, mathematical auditing, and spreadsheets.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Thoth: The Scribe of Wisdom — research synthesis, deep summarization, document validation, and historical records.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Horus, Akhenaten, Nefertiti: Specialized defense, governance, and administrative communication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USER EXPERIENCE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Holographic 3D Portrait &amp; Quick-Switcher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3D Transparent Holographic Avatar: Modeled with an obsidian cartouche and royal gold illuminated rim.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1-Click Avatar Switcher: A dedicated horizontal selector bar in the header allows instantaneous switching between all 10 personas.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Universal Synchronization: Switching the persona synchronizes the avatar, role title, system prompt, and greeting across all platform agents.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No-Permission Blockers: Fully editable and clickable for all team 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INSTITUTIONAL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&amp; Economic Impact for MCIT &amp; Government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SOVEREIGNTY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100% Data Sovereignty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cloud leakage: Classified ministerial files remain within the state firewall.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Full compliance with national cybersecurity and data protection frameworks.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Immune to foreign sanctions, cloud pricing hikes, or global connection blackouts.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Total ownership of code, weights, data, and fine-tuned domain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PRODUCTIVITY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10x Operational Speed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Reduces 4-hour document reading to a 30-second verified executive summary.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Eliminates external design delays: Generates ready-to-present PowerPoint decks on demand.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Instant ONLYOFFICE co-editing: Staff collaborate inside the platform without license costs.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Empowers leadership with real-time strategic briefs during meetings.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COST EFFICIENCY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Zero Recurring SaaS Costs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No per-seat licensing fees (saving thousands of dollars annually on Copilot / ChatGPT Plus).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Runs on existing departmental GPUs and workstations without expensive cloud clusters.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 on robust open-source foundations (SurrealDB, ParadeDB, Next.js, Fastify).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Future-proof modularity: swap underlying open models seamlessly.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Strategic Future Roadmap: Expanding TuT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8BDF8"/>
                </a:solidFill>
                <a:latin typeface="Arial"/>
              </a:defRPr>
            </a:pPr>
            <a:r>
              <a:t>SPEED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1. Ultra-Fast Inference via vLLM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Integrate containerized vLLM with PagedAttention to achieve 60–80+ tokens/sec on RTX GPUs.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Support concurrent multi-user streaming for entire ministerial departments.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D4AF37"/>
                </a:solidFill>
                <a:latin typeface="Arial"/>
              </a:defRPr>
            </a:pPr>
            <a:r>
              <a:t>SPECIALIZATION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2. Egyptian Governmental LoRA Fine-Tuning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Fine-tune specialized LoRA adapters on official ministerial circulars, decrees, and laws.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Guarantees 100% authentic Egyptian administrative protocol and terminology.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34D399"/>
                </a:solidFill>
                <a:latin typeface="Arial"/>
              </a:defRPr>
            </a:pPr>
            <a:r>
              <a:t>VISION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3. Multimodal Vision for Scanned PDFs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Deploy Qwen2-VL or Llama-3.2-Vision to process historical Arabic manuscripts, stamps, and blueprints.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Direct table extraction from paper scans directly into Excel and charts.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MULTI-AGENT</a:t>
            </a:r>
          </a:p>
          <a:p>
            <a:pPr>
              <a:spcAft>
                <a:spcPts val="10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4. Autonomous Multi-Agent Swarms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Autonomous delegation: Thoth researches, Imhotep audits data, and TuT delivers the final slides.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Zero human micromanagement on complex multi-step state projects.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PEOPLE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Leadership &amp; Development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D4AF37"/>
                </a:solidFill>
                <a:latin typeface="Arial"/>
              </a:defRPr>
            </a:pPr>
            <a:r>
              <a:t>MINISTRY HEADS &amp; SUPERVISION</a:t>
            </a:r>
          </a:p>
          <a:p>
            <a:pPr>
              <a:spcAft>
                <a:spcPts val="18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Ministry Leadership &amp; Guidance</a:t>
            </a:r>
          </a:p>
          <a:p>
            <a:pPr>
              <a:defRPr sz="1400" b="1">
                <a:solidFill>
                  <a:srgbClr val="F5D673"/>
                </a:solidFill>
                <a:latin typeface="Arial"/>
              </a:defRPr>
            </a:pPr>
            <a:r>
              <a:t>🎖️  Dr. Mohamed Rehan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 Ministry Leadership &amp; Project Sponsor</a:t>
            </a:r>
          </a:p>
          <a:p>
            <a:pPr>
              <a:defRPr sz="1400" b="1">
                <a:solidFill>
                  <a:srgbClr val="F5D673"/>
                </a:solidFill>
                <a:latin typeface="Arial"/>
              </a:defRPr>
            </a:pPr>
            <a:r>
              <a:t>🎖️  Eng. Reham Metwally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 Technical Oversight &amp; Ministerial Direction</a:t>
            </a:r>
          </a:p>
          <a:p>
            <a:pPr>
              <a:defRPr sz="1400" b="1">
                <a:solidFill>
                  <a:srgbClr val="F5D673"/>
                </a:solidFill>
                <a:latin typeface="Arial"/>
              </a:defRPr>
            </a:pPr>
            <a:r>
              <a:t>🎖️  Eng. Mohamed Khalid Mohamed Roshdy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     Strategic Engineering &amp; Systems Supervision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ENGINEERING &amp; DEVELOPMENT TEAM</a:t>
            </a:r>
          </a:p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TuT AI Core Contributors</a:t>
            </a:r>
          </a:p>
          <a:p>
            <a:pPr>
              <a:defRPr sz="1200" b="1">
                <a:solidFill>
                  <a:srgbClr val="D4AF37"/>
                </a:solidFill>
                <a:latin typeface="Arial"/>
              </a:defRPr>
            </a:pPr>
            <a:r>
              <a:t>⭐  Ahmed Gamal Sophi Arfa</a:t>
            </a:r>
          </a:p>
          <a:p>
            <a:pPr>
              <a:spcAft>
                <a:spcPts val="400"/>
              </a:spcAft>
              <a:defRPr sz="1000">
                <a:solidFill>
                  <a:srgbClr val="F5D673"/>
                </a:solidFill>
                <a:latin typeface="Arial"/>
              </a:defRPr>
            </a:pPr>
            <a:r>
              <a:t>     Project Lead, Principal Architect &amp; Full-Stack Creator (End-to-End Platform)</a:t>
            </a:r>
          </a:p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 Abdelrhman Mahmoud Fawzy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     RAG Specialist (Retrieval-Augmented Generation &amp; Vector Search)</a:t>
            </a:r>
          </a:p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 Saja Raafat Gaber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     Infographics Specialist (VectorCraft Studio &amp; Visual Storytelling)</a:t>
            </a:r>
          </a:p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 Mohamed Hamdy Abdelazez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     Presentation Engine Specialist (DeckCraft &amp; Slide Generation)</a:t>
            </a:r>
          </a:p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 Asmaa Samy Hagag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     Presentation Design Specialist (DeckCraft &amp; Slide Layouts)</a:t>
            </a:r>
          </a:p>
          <a:p>
            <a:pPr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 Mohamed Abd elhgani el kwatihy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     RAG Pipeline Specialist (Knowledge Ingestion &amp; Chunking)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SOVEREIGNTY IS OUR FOUNDATION</a:t>
            </a:r>
          </a:p>
          <a:p>
            <a:pPr algn="ctr">
              <a:spcAft>
                <a:spcPts val="18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TuT AI is Ready for Institutional Deployment</a:t>
            </a:r>
          </a:p>
          <a:p>
            <a:pPr algn="ctr">
              <a:spcAft>
                <a:spcPts val="32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Delivering national data security, autonomous PowerPoint presentations, deep document summarization, and vector infographics on local Egyptian hardware.</a:t>
            </a:r>
          </a:p>
          <a:p>
            <a:pPr algn="ctr">
              <a:defRPr sz="1400" b="1">
                <a:solidFill>
                  <a:srgbClr val="F5D673"/>
                </a:solidFill>
                <a:latin typeface="Arial"/>
              </a:defRPr>
            </a:pPr>
            <a:r>
              <a:t>GitHub Repository: https://github.com/AhmdArFa/TuT-AI</a:t>
            </a:r>
            <a:br/>
            <a:r>
              <a:t>Local Endpoints: http://localhost:3210 (TuT Agent) | http://localhost:8502 (Platform)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