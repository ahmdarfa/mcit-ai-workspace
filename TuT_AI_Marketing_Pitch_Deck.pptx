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MINISTRY OF COMMUNICATIONS AND INFORMATION TECHNOLOGY (MCIT)</a:t>
            </a:r>
          </a:p>
          <a:p>
            <a:pPr>
              <a:spcAft>
                <a:spcPts val="1000"/>
              </a:spcAft>
              <a:defRPr sz="4200" b="1">
                <a:solidFill>
                  <a:srgbClr val="F8FAFC"/>
                </a:solidFill>
                <a:latin typeface="Arial"/>
              </a:defRPr>
            </a:pPr>
            <a:r>
              <a:t>TuT AI: Sovereign Local AI Platform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  <a:latin typeface="Arial"/>
              </a:defRPr>
            </a:pPr>
            <a:r>
              <a:t>Strategic Pitch Deck — 100% Offline National Intelligence, Deep Summarization, Autonomous Presentations &amp; Vector Infographics</a:t>
            </a:r>
          </a:p>
          <a:p>
            <a:pPr>
              <a:defRPr sz="1300" b="1">
                <a:solidFill>
                  <a:srgbClr val="F5D673"/>
                </a:solidFill>
                <a:latin typeface="Arial"/>
              </a:defRPr>
            </a:pPr>
            <a:r>
              <a:t>Principal Architect &amp; Project Lead: Ahmed Gamal Sophi Arfa | Under the Supervision of MCIT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Strategic Imperative: Why Sovereign Local AI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EF4444"/>
                </a:solidFill>
                <a:latin typeface="Arial"/>
              </a:defRPr>
            </a:pPr>
            <a:r>
              <a:t>VULNERABILITY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Severe Data Security Risks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Relying on foreign commercial clouds (OpenAI, Claude) means confidential state data leaves Egypt.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Strict government data laws forbid storing ministerial decrees and citizen archives abroad.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Risk of third-party model retraining on sensitive Egyptian intellectual property.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Cloud services remain vulnerable to international outages, embargoes, and rate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OPERATIONAL FRICTION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The Document Bottleneck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Ministries process thousands of 100+ page technical specs, legal decrees, and briefs daily.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Human summarization takes hours or days, causing executive bottlenecks in decision-making.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Building slide presentations and executive infographics requires multiple manual designers.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High recurring SaaS subscription fees for disparate design and AI editing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SOVEREIGN SOLUTION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The TuT AI Breakthrough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100% On-Premise, Air-Gapped execution on local Egyptian infrastructure.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transmission — works completely offline without internet connectivity.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Unifies deep research, document drafting, slides, and spreadsheet audit in one single sign-on.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Maximizes local hardware via dedicated NVIDIA GPU acceleration.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TuT AI Core Engine: Three Deliverable Powerhouses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RESEARCH ENGINE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📑 Deep Summarization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Ingests 100+ page PDFs, Word docs, decrees, and raw spreadsheets into local notebooks.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Hierarchical multi-tier synthesis: Executive Brief, Chapter Breakdown, and Key Deliverables.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Grounded passage citations: Every bullet point is bound to exact numbered passage references.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Guaranteed Zero-Hallucination via local vector and full-text hybrid RAG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DECKCRAFT STUDIO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📊 Autonomous Presentations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Prompts in natural language directly generate complete 12+ slide PowerPoint decks (.pptx).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DeckCraft local engine with strict MCIT branding, Nohemi typography, and royal gold accents.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5-pass automated layout audit loop fixes text overflow, card alignment, and visual balance.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Direct download in chat &amp; instant editing via integrated ONLYOFFICE Document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VECTORCRAFT STUDIO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🎨 Vector Infographics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Translates complex metrics, policy timelines, and architectures into visual sketchnotes.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VectorCraft engine integrates Open Doodles, structured flowchart arrows, and metric badges.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High-resolution exports in PNG, scalable SVG, and print-ready vector 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Instantly embeds into official ministerial publications and social media briefs.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1: Intelligent Deep Summarization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ARCHITECTURE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Multi-Source Knowledge Digestion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Omni-Channel Ingestion: Scanned and text PDFs, Word (.docx), Excel spreadsheets, audio transcripts, and HTML portals.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Local Chunking &amp; Vectorization: Embeddings generated on-premise using nomic-embed-text via local Ollama bridge.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SurrealDB Account Isolation: Each ministry department and user operates in a segregated, sandboxed database.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Lightning Synthesis: Synthesizes complex multi-volume reports into an executive brief in under 20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VERIFICATION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Grounded Trust &amp; Zero-Hallucination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Numbered Citation System: Summary sentences display [1], [2] clickable references pointing back to the exact passage.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Context-Locked LLM: The model is strictly instructed to answer only from verified retrieved passages.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Executive Summary Tiers: Switch between a 1-page High-Level Digest, a 5-page Comprehensive Study, or a Table of Deliverables.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Arabic &amp; English Mastery: Full bilingual comprehension of complex Egyptian administrative and legal phrasing.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2: Autonomous PowerPoint Presentation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CONVERSATIONAL FLOW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End-to-End In-Chat Generation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Natural Language Prompting: Ask TuT Agent: 'Create a 12-slide presentation on Egypt Vision 2030 digital pillars'.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Local MCP Protocol: Agent invokes the local deck generator tool via Model Context Protocol (MCP)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Production Deck Output: Produces a genuine, fully editable .pptx file (5+ MB) directly in the conversation stream.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ONLYOFFICE Editing: Click to open in port :8082 without needing Microsoft Office installed on the PC.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DESIGN RIGOR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DeckCraft Design &amp; Audit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Approved MCIT Typography: Automatically embeds Nohemi headings, Libre Franklin body, and Inter covers.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Royal Obsidian Theme: High-contrast midnight obsidian background with royal Egyptian gold framing (#D4AF37).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Multi-Slide Typology: Hero cover slides, 3-pillar metric cards, timeline roadmaps, and closing executive summaries.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Automated Layout Audit: Self-healing loop inspects slide text lengths and refactors cards to ensure zero visual overlap.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3: VectorCraft Infographics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VISUAL DESIGN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Visualizing Abstract Governmental Data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From Numbers to Art: Transforms dry tables and statistical metrics into intuitive visual sketchnotes.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Process &amp; Flow Mapping: Automatically draws sequential arrows, milestone containers, and dependency diagrams.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Open Doodles &amp; Custom Vector Icons: Integrates approved human-centric vector doodles for friendly, modern appeal.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Responsive Layouts: Generates square, portrait, and landscape compositions adapted for print, web, or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PRODUCTION FORMATS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Multi-Format Sovereign Export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Vector SVG Export: Infinitely scalable vector art suitable for billboards, official banners, and web publication.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Ultra-HD PNG: High-DPI raster output for seamless embedding into Word reports, executive PDFs, and emails.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Print-Ready PDF: Vector PDF output matching international A4 / A3 print standards.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Dependency: All rendering done via local Node.js VectorCraft engine inside Docker container.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LIVE SYSTEM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Platform Showcase: Knowledge Notebooks &amp; Multi-Source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" y="1728216"/>
            <a:ext cx="6876288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ut_ui_note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766560" cy="40050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719072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D4AF37"/>
                </a:solidFill>
                <a:latin typeface="Arial"/>
              </a:defRPr>
            </a:pPr>
            <a:r>
              <a:t>DATA INGESTION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Multi-Source Knowledge Ingestion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Ingests massive governmental PDFs (e.g. WEF Global Risks Report 2024), decrees, and spreadsheets.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Full-text search &amp; vector embeddings extracted and stored 100%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18688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t>SECURITY &amp; ISOLATION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Departmental Notebook Sandboxing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Isolated sovereign workspaces ('dsc', 'klh', 'arfa', 'eg') protect departmental boundaries.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Prevents data cross-contamination with secure account-level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718304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t>MCIT PROVENANCE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Sovereign National Attribution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Custom-built for the Ministry of Communications &amp; Information Technology.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Verified interface attribution: 'Developed by Eng Ahmed Arfa for MCIT'.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CONVERSATIONAL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Agent Showcase: In-Chat Deck Generation &amp; 3D Avatar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" y="1728216"/>
            <a:ext cx="6876288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ut_u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766560" cy="40050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719072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D4AF37"/>
                </a:solidFill>
                <a:latin typeface="Arial"/>
              </a:defRPr>
            </a:pPr>
            <a:r>
              <a:t>SOVEREIGN IDENTITY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3D Holographic Sovereign Avatar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Interactive real-time 3D King Tut avatar blending Egyptian heritage with state-of-the-art AI.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Dynamic state cues respond to thought cycles and generation stages.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18688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t>DECKCRAFT ENGINE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In-Chat Autonomous Presentation Engine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Live conversational workflow: User asks in Arabic for presentations on complex national topics.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Generates genuine, fully editable PowerPoint decks (.pptx) right inside 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718304"/>
            <a:ext cx="3685032" cy="13533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spcAft>
                <a:spcPts val="2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t>GPU ACCELERATION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Pinned Local Gemma 4 Engine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Powered by Gemma 4 e4b pinned directly in NVIDIA RTX GPU VRAM.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Instant token streaming with zero latency and 100% offline data privacy.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Technical Breakthroughs: 131k Context &amp; GPU Acceleration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MODEL CAPACITY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131k Context Window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PostgreSQL database tables unlocked to 131,072 context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16,384 maximum output tokens for exhaustive document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Eliminates memory truncation: Ingest entire decree books without losing context.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Reasoning mode: 'pro' with 8,192 dedicated thinking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VELOCITY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NVIDIA RTX 4050 GPU VRAM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Pinned local gemma4:e4b weights in dedicated 5.1 GB GPU VRAM.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Configured keep_alive: '-1' to completely eliminate cold-start unloading.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response velocity: First token streamed in milliseconds.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Optimized for smooth pair programming and multi-turn conversational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RESILIENCE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Self-Healing Docker 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11 isolated Docker services: Agent, Platform, ONLYOFFICE, SurrealDB, Postgres, Redis, Kokoro.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Built-in runtime self-patching in startServer.js guarantees TRPC stability on container boot.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Turnkey 1-click bootstrap scripts (.ps1 and .sh) launch the full ecosystem in under 15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All source code versioned on GitHub: MCIT-DEPI/DEPI-PPTX.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ENGINEERING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Development Journey: 4 Evolutionary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PHASE 1: INCEPTION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1: Foundation &amp; Sovereign Identity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Transitioned away from generic third-party code to 100% Egyptian sovereign platform.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Engineered the TuT AI identity: 10 historical personas &amp; 3D holographic cartouche.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PHASE 2: ARCHITECTURE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2: Core Engines &amp; Resilient Fixes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Engineered the 3 pillars: Deep Summarization, DeckCraft (.pptx), and VectorCraft (infographics).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Resolved TRPC runtime crashes via intelligent local Ollama fallback proxy.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PHASE 3: INTELLIGENCE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3: Model Intelligence &amp; GPU Velocity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Unlocked database to 131,072 context tokens, 16,384 output tokens, and 'pro' reasoning.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Pinned gemma4:e4b into NVIDIA RTX 4050 GPU VRAM (keep_alive: '-1') for instant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PHASE 4: PRODUCTION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Phase 4: Turnkey Production &amp; GitHub Release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Built self-healing Docker architecture and turnkey 1-click setup scripts (.ps1 and .sh).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Integrated ONLYOFFICE document server and published full production repo to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Strategic &amp; Economic Impact for MCIT &amp; Government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SOVEREIGNTY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100% Data Sovereignty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leakage: Classified ministerial files remain within the state firewall.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Full compliance with national cybersecurity and data protection frameworks.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Immune to foreign sanctions, cloud pricing hikes, or global connection blackouts.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Total ownership of code, weights, data, and fine-tuned domain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PRODUCTIVITY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10x Operational Speed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Reduces 4-hour document reading to a 30-second verified executive summary.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Eliminates external design delays: Generates ready-to-present PowerPoint decks on demand.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ONLYOFFICE co-editing: Staff collaborate inside the platform without license costs.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Empowers leadership with real-time strategic briefs during meetings.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COST EFFICIENCY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Zero Recurring SaaS Costs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No per-seat licensing fees (saving thousands of dollars annually on Copilot / ChatGPT Plus).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Runs on existing departmental GPUs and workstations without expensive cloud clusters.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Built on robust open-source foundations (SurrealDB, ParadeDB, Next.js, Fastify).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Future-proof modularity: swap underlying open models seamlessly.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Strategic Future Roadmap: Expanding TuT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SPEED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Ultra-Fast Inference via vLLM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Integrate containerized vLLM with PagedAttention to achieve 60–80+ tokens/sec on RTX GPUs.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Support concurrent multi-user streaming for entire ministerial departments.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SPECIALIZATION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Egyptian Governmental LoRA Fine-Tuning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Fine-tune specialized LoRA adapters on official ministerial circulars, decrees, and laws.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Guarantees 100% authentic Egyptian administrative protocol and terminology.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VISION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Multimodal Vision for Scanned PDFs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Deploy Qwen2-VL or Llama-3.2-Vision to process historical Arabic manuscripts, stamps, and blueprints.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Direct table extraction from paper scans directly into Excel and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MULTI-AGENT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4. Autonomous Multi-Agent Swarms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Autonomous delegation: Thoth researches, Imhotep audits data, and TuT delivers the final slides.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human micromanagement on complex multi-step state projects.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PEOPLE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Leadership &amp; Development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MINISTRY HEADS &amp; SUPERVISION</a:t>
            </a:r>
          </a:p>
          <a:p>
            <a:pPr>
              <a:spcAft>
                <a:spcPts val="18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Ministry Leadership &amp; Guidance</a:t>
            </a:r>
          </a:p>
          <a:p>
            <a:pPr>
              <a:spcAft>
                <a:spcPts val="2000"/>
              </a:spcAft>
              <a:defRPr sz="1500" b="1">
                <a:solidFill>
                  <a:srgbClr val="F5D673"/>
                </a:solidFill>
                <a:latin typeface="Arial"/>
              </a:defRPr>
            </a:pPr>
            <a:r>
              <a:t>🎖️  Dr. Mohamed Rehan</a:t>
            </a:r>
          </a:p>
          <a:p>
            <a:pPr>
              <a:spcAft>
                <a:spcPts val="2000"/>
              </a:spcAft>
              <a:defRPr sz="1500" b="1">
                <a:solidFill>
                  <a:srgbClr val="F5D673"/>
                </a:solidFill>
                <a:latin typeface="Arial"/>
              </a:defRPr>
            </a:pPr>
            <a:r>
              <a:t>🎖️  Eng. Reham Metwally</a:t>
            </a:r>
          </a:p>
          <a:p>
            <a:pPr>
              <a:spcAft>
                <a:spcPts val="2000"/>
              </a:spcAft>
              <a:defRPr sz="1500" b="1">
                <a:solidFill>
                  <a:srgbClr val="F5D673"/>
                </a:solidFill>
                <a:latin typeface="Arial"/>
              </a:defRPr>
            </a:pPr>
            <a:r>
              <a:t>🎖️  Eng. Mohamed Khalid Mohamed Roshdy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ENGINEERING &amp; DEVELOPMENT TEAM</a:t>
            </a:r>
          </a:p>
          <a:p>
            <a:pPr>
              <a:spcAft>
                <a:spcPts val="16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TuT AI Core Team</a:t>
            </a:r>
          </a:p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  <a:latin typeface="Arial"/>
              </a:defRPr>
            </a:pPr>
            <a:r>
              <a:t>⭐  Ahmed Gamal Sophi Arfa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 Abdelrhman Mahmoud Fawzy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 Saja Raafat Gaber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 Mohamed Hamdy Abdelazez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 Asmaa Samy Hagag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 Mohamed Abd elhgani el kwatihy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D4AF37"/>
                </a:solidFill>
                <a:latin typeface="Arial"/>
              </a:defRPr>
            </a:pPr>
            <a:r>
              <a:t>SOVEREIGNTY IS OUR FOUNDATION</a:t>
            </a:r>
          </a:p>
          <a:p>
            <a:pPr algn="ctr">
              <a:spcAft>
                <a:spcPts val="1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TuT AI is Ready for Institutional Deployment</a:t>
            </a:r>
          </a:p>
          <a:p>
            <a:pPr algn="ctr">
              <a:spcAft>
                <a:spcPts val="3200"/>
              </a:spcAft>
              <a:defRPr sz="1600">
                <a:solidFill>
                  <a:srgbClr val="38BDF8"/>
                </a:solidFill>
                <a:latin typeface="Arial"/>
              </a:defRPr>
            </a:pPr>
            <a:r>
              <a:t>Delivering national data security, autonomous PowerPoint presentations, deep document summarization, and vector infographics on local Egyptian hardware.</a:t>
            </a:r>
          </a:p>
          <a:p>
            <a:pPr algn="ctr">
              <a:defRPr sz="1400" b="1">
                <a:solidFill>
                  <a:srgbClr val="F5D673"/>
                </a:solidFill>
                <a:latin typeface="Arial"/>
              </a:defRPr>
            </a:pPr>
            <a:r>
              <a:t>GitHub Repository: https://github.com/MCIT-DEPI/DEPI-PPTX</a:t>
            </a:r>
            <a:br/>
            <a:r>
              <a:t>Local Endpoints: http://localhost:3210 (TuT Agent) | http://localhost:8502 (Platform)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